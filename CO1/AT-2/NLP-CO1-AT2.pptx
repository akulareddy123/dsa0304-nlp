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28956"/>
            <a:ext cx="122814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2D50"/>
                </a:solidFill>
              </a:defRPr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Natural Language Processing: From Rule-Based Systems to Modern NLP</a:t>
            </a:r>
          </a:p>
          <a:p>
            <a:pPr algn="ctr">
              <a:defRPr sz="3600" b="1">
                <a:solidFill>
                  <a:srgbClr val="192D50"/>
                </a:solidFill>
              </a:defRPr>
            </a:pPr>
            <a:endParaRPr lang="en-IN" sz="3600" b="1" dirty="0">
              <a:solidFill>
                <a:srgbClr val="192D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3600" b="1">
                <a:solidFill>
                  <a:srgbClr val="192D50"/>
                </a:solidFill>
              </a:defRPr>
            </a:pPr>
            <a:r>
              <a:rPr lang="en-IN" sz="3600" b="1" dirty="0">
                <a:solidFill>
                  <a:srgbClr val="19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DSA0304-NATURAL LANGUAGE PROCESSING</a:t>
            </a:r>
          </a:p>
          <a:p>
            <a:pPr algn="ctr">
              <a:defRPr sz="3600" b="1">
                <a:solidFill>
                  <a:srgbClr val="192D5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32857" y="4384695"/>
            <a:ext cx="212564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69AA"/>
                </a:solidFill>
              </a:defRPr>
            </a:pPr>
            <a:r>
              <a:rPr lang="en-US" dirty="0"/>
              <a:t>Presented by:</a:t>
            </a:r>
          </a:p>
          <a:p>
            <a:pPr algn="ctr">
              <a:defRPr sz="2400">
                <a:solidFill>
                  <a:srgbClr val="3769AA"/>
                </a:solidFill>
              </a:defRPr>
            </a:pPr>
            <a:r>
              <a:rPr lang="en-US" dirty="0"/>
              <a:t>A.Reddy Prasad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92824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Evolution of 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5753" y="408354"/>
            <a:ext cx="268983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4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is a branch of Artificial Intelligence that enables computers to understand, process, and generate human language.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NLP systems relied on manually written linguistic rules and dictionaries.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methods later introduced learning from large collections of text.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Transformer architectures have enabled modern systems to capture context and meaning more effectively.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is now used in chatbots, translation, search engines, sentiment analysis, summarization, and voice assistants.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92824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Evolution of Natural Language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0618" y="496669"/>
            <a:ext cx="22621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major stages in the evolution of Natural Language Processing.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transition from rule-based NLP to statistical and machine-learning approaches.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role of neural networks, deep learning, and Transformer models in modern NLP.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strengths and limitations of different NLP generations.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modern NLP systems achieve better language understanding and generation.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92824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Evolution of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8670" y="393107"/>
            <a:ext cx="398506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0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language is complex, ambiguous, context-dependent, and constantly changing.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systems require large numbers of manually created rules and struggle with language variations.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approaches reduce manual effort but depend heavily on suitable features and training data.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neural models improved representation learning but had difficulty capturing long-range context efficiently.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challenge is to build NLP systems that can understand context, learn from large-scale data, and generate natural and useful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92824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Evolution of Natural Language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23680" y="581650"/>
            <a:ext cx="364715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92D50"/>
                </a:solidFill>
              </a:defRPr>
            </a:pP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NLP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828800"/>
            <a:ext cx="2514600" cy="2834640"/>
          </a:xfrm>
          <a:prstGeom prst="roundRect">
            <a:avLst/>
          </a:prstGeom>
          <a:solidFill>
            <a:srgbClr val="EBF2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69AA"/>
                </a:solidFill>
              </a:defRPr>
            </a:pPr>
            <a:r>
              <a:t>1950s–1980s</a:t>
            </a:r>
          </a:p>
          <a:p>
            <a:pPr algn="ctr">
              <a:defRPr sz="1900" b="1">
                <a:solidFill>
                  <a:srgbClr val="192D50"/>
                </a:solidFill>
              </a:defRPr>
            </a:pPr>
            <a:r>
              <a:t>Rule-Based NLP</a:t>
            </a:r>
          </a:p>
          <a:p>
            <a:pPr algn="ctr">
              <a:defRPr sz="1400">
                <a:solidFill>
                  <a:srgbClr val="232323"/>
                </a:solidFill>
              </a:defRPr>
            </a:pPr>
            <a:r>
              <a:t>Hand-written grammar rules</a:t>
            </a:r>
            <a:br/>
            <a:r>
              <a:t>and dictionaries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926080" y="3246120"/>
            <a:ext cx="411480" cy="0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37560" y="1828800"/>
            <a:ext cx="2514600" cy="2834640"/>
          </a:xfrm>
          <a:prstGeom prst="roundRect">
            <a:avLst/>
          </a:prstGeom>
          <a:solidFill>
            <a:srgbClr val="E1EEE6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69AA"/>
                </a:solidFill>
              </a:defRPr>
            </a:pPr>
            <a:r>
              <a:t>1990s–2000s</a:t>
            </a:r>
          </a:p>
          <a:p>
            <a:pPr algn="ctr">
              <a:defRPr sz="1900" b="1">
                <a:solidFill>
                  <a:srgbClr val="192D50"/>
                </a:solidFill>
              </a:defRPr>
            </a:pPr>
            <a:r>
              <a:t>Statistical NLP</a:t>
            </a:r>
          </a:p>
          <a:p>
            <a:pPr algn="ctr">
              <a:defRPr sz="1400">
                <a:solidFill>
                  <a:srgbClr val="232323"/>
                </a:solidFill>
              </a:defRPr>
            </a:pPr>
            <a:r>
              <a:t>Probabilistic models</a:t>
            </a:r>
            <a:br/>
            <a:r>
              <a:t>and corpus-based learning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0" y="3246120"/>
            <a:ext cx="411480" cy="0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63640" y="1828800"/>
            <a:ext cx="2514600" cy="2834640"/>
          </a:xfrm>
          <a:prstGeom prst="roundRect">
            <a:avLst/>
          </a:prstGeom>
          <a:solidFill>
            <a:srgbClr val="EBF2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69AA"/>
                </a:solidFill>
              </a:defRPr>
            </a:pPr>
            <a:r>
              <a:t>2010s</a:t>
            </a:r>
          </a:p>
          <a:p>
            <a:pPr algn="ctr">
              <a:defRPr sz="1900" b="1">
                <a:solidFill>
                  <a:srgbClr val="192D50"/>
                </a:solidFill>
              </a:defRPr>
            </a:pPr>
            <a:r>
              <a:t>Deep Learning NLP</a:t>
            </a:r>
          </a:p>
          <a:p>
            <a:pPr algn="ctr">
              <a:defRPr sz="1400">
                <a:solidFill>
                  <a:srgbClr val="232323"/>
                </a:solidFill>
              </a:defRPr>
            </a:pPr>
            <a:r>
              <a:t>Word embeddings,</a:t>
            </a:r>
            <a:br/>
            <a:r>
              <a:t>RNNs and LSTMs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3246120"/>
            <a:ext cx="411480" cy="0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89720" y="1828800"/>
            <a:ext cx="2514600" cy="2834640"/>
          </a:xfrm>
          <a:prstGeom prst="roundRect">
            <a:avLst/>
          </a:prstGeom>
          <a:solidFill>
            <a:srgbClr val="E1EEE6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69AA"/>
                </a:solidFill>
              </a:defRPr>
            </a:pPr>
            <a:r>
              <a:t>2017–Present</a:t>
            </a:r>
          </a:p>
          <a:p>
            <a:pPr algn="ctr">
              <a:defRPr sz="1900" b="1">
                <a:solidFill>
                  <a:srgbClr val="192D50"/>
                </a:solidFill>
              </a:defRPr>
            </a:pPr>
            <a:r>
              <a:t>Transformers &amp; LLMs</a:t>
            </a:r>
          </a:p>
          <a:p>
            <a:pPr algn="ctr">
              <a:defRPr sz="1400">
                <a:solidFill>
                  <a:srgbClr val="232323"/>
                </a:solidFill>
              </a:defRPr>
            </a:pPr>
            <a:r>
              <a:t>Self-attention,</a:t>
            </a:r>
            <a:br/>
            <a:r>
              <a:t>pretraining and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92824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Evolution of Natural Language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7720" y="420469"/>
            <a:ext cx="32880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423160"/>
            <a:ext cx="192024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50"/>
                </a:solidFill>
              </a:defRPr>
            </a:pPr>
            <a:r>
              <a:t>Human Language</a:t>
            </a:r>
            <a:br/>
            <a:r>
              <a:t>Input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31720" y="2999232"/>
            <a:ext cx="365760" cy="0"/>
          </a:xfrm>
          <a:prstGeom prst="line">
            <a:avLst/>
          </a:prstGeom>
          <a:ln w="31750">
            <a:solidFill>
              <a:srgbClr val="4691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697480" y="2423160"/>
            <a:ext cx="192024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50"/>
                </a:solidFill>
              </a:defRPr>
            </a:pPr>
            <a:r>
              <a:t>Rule-Based</a:t>
            </a:r>
            <a:br/>
            <a:r>
              <a:t>Systems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17720" y="2999232"/>
            <a:ext cx="365760" cy="0"/>
          </a:xfrm>
          <a:prstGeom prst="line">
            <a:avLst/>
          </a:prstGeom>
          <a:ln w="31750">
            <a:solidFill>
              <a:srgbClr val="4691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983480" y="2423160"/>
            <a:ext cx="192024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50"/>
                </a:solidFill>
              </a:defRPr>
            </a:pPr>
            <a:r>
              <a:t>Statistical / ML</a:t>
            </a:r>
            <a:br/>
            <a:r>
              <a:t>Methods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03720" y="2999232"/>
            <a:ext cx="365760" cy="0"/>
          </a:xfrm>
          <a:prstGeom prst="line">
            <a:avLst/>
          </a:prstGeom>
          <a:ln w="31750">
            <a:solidFill>
              <a:srgbClr val="4691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69480" y="2423160"/>
            <a:ext cx="192024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50"/>
                </a:solidFill>
              </a:defRPr>
            </a:pPr>
            <a:r>
              <a:t>Deep Learning</a:t>
            </a:r>
            <a:br/>
            <a:r>
              <a:t>(RNN / LSTM)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89720" y="2999232"/>
            <a:ext cx="365760" cy="0"/>
          </a:xfrm>
          <a:prstGeom prst="line">
            <a:avLst/>
          </a:prstGeom>
          <a:ln w="31750">
            <a:solidFill>
              <a:srgbClr val="4691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55480" y="2423160"/>
            <a:ext cx="192024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50"/>
                </a:solidFill>
              </a:defRPr>
            </a:pPr>
            <a:r>
              <a:t>Transformers /</a:t>
            </a:r>
            <a:br/>
            <a:r>
              <a:t>Modern NLP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251960"/>
            <a:ext cx="5669280" cy="960120"/>
          </a:xfrm>
          <a:prstGeom prst="roundRect">
            <a:avLst/>
          </a:prstGeom>
          <a:solidFill>
            <a:srgbClr val="E1EEE6"/>
          </a:solidFill>
          <a:ln>
            <a:solidFill>
              <a:srgbClr val="46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323"/>
                </a:solidFill>
              </a:defRPr>
            </a:pPr>
            <a:r>
              <a:t>Applications: Translation • Chatbots • Search • Sentiment • Summarization • Generative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92824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Evolution of Natural Language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79547" y="397532"/>
            <a:ext cx="23903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0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has evolved from manually designed rules to data-driven statistical models and powerful neural architectures.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improved automatic feature learning and contextual representation.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introduced efficient attention mechanisms and became the foundation of many modern language models.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NLP can perform complex tasks such as language generation, question answering, translation, and summarization.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evolution of NLP shows a continuous shift toward systems that learn richer language representations from increasingly large and diverse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92824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Evolution of Natural Language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466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akula reddy prasad</dc:creator>
  <cp:keywords/>
  <dc:description>generated using python-pptx</dc:description>
  <cp:lastModifiedBy>akula reddy prasad</cp:lastModifiedBy>
  <cp:revision>2</cp:revision>
  <dcterms:created xsi:type="dcterms:W3CDTF">2013-01-27T09:14:16Z</dcterms:created>
  <dcterms:modified xsi:type="dcterms:W3CDTF">2026-10-06T16:03:56Z</dcterms:modified>
  <cp:category/>
</cp:coreProperties>
</file>